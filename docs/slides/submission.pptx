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bmission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5581" y="0"/>
            <a:ext cx="1306285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C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github.com/Sumit-Dwivedi/intel-bimanual-vla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The challenge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56170"/>
                </a:solidFill>
                <a:latin typeface="Calibri"/>
              </a:rPr>
              <a:t>Two SO-101 arms, one shared workspace, one language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28655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C2433"/>
                </a:solidFill>
                <a:latin typeface="Calibri"/>
              </a:rPr>
              <a:t>Two SO-101 arms in MuJoCo; language-conditioned table setting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C2433"/>
                </a:solidFill>
                <a:latin typeface="Calibri"/>
              </a:rPr>
              <a:t>Inference on Intel Core Ultra Series 3 (Panther Lake) via OpenVINO 2026.3 — CPU, iGPU (Arc B390), NPU (NPU5010)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C2433"/>
                </a:solidFill>
                <a:latin typeface="Calibri"/>
              </a:rPr>
              <a:t>Simulation-first: </a:t>
            </a:r>
            <a:r>
              <a:rPr sz="1800" b="1" i="0">
                <a:solidFill>
                  <a:srgbClr val="1C2433"/>
                </a:solidFill>
                <a:latin typeface="Calibri"/>
              </a:rPr>
              <a:t>no physical robot</a:t>
            </a:r>
            <a:r>
              <a:rPr sz="1800" b="0" i="0">
                <a:solidFill>
                  <a:srgbClr val="1C2433"/>
                </a:solidFill>
                <a:latin typeface="Calibri"/>
              </a:rPr>
              <a:t> anywhere in the pipeline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C2433"/>
                </a:solidFill>
                <a:latin typeface="Calibri"/>
              </a:rPr>
              <a:t>The hard part is not the language. It is getting two 5-DoF arms to share one workspace without colliding — and </a:t>
            </a:r>
            <a:r>
              <a:rPr sz="1800" b="1" i="0">
                <a:solidFill>
                  <a:srgbClr val="1C2433"/>
                </a:solidFill>
                <a:latin typeface="Calibri"/>
              </a:rPr>
              <a:t>knowing whether they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CONSTRAINTS.md · ADR-016 (SO-101: 6 actuators, 5 positioning DoF)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28655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Four scripted skills, end to end: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pick(A, fork), place(A, fork, table), pick(A, water_bottle), handoff(A→B, fork)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Bimanual handoff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with sequential choreography (ADR-037) — one arm moves, the other genuinely frozen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Voice → plan → execution: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Speechmatics transcript at 0.983 confidence → rule-based grounder (43 tests) → executor (ADR-058)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Perception: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PoseNet trained on Arc B390, 2.6–3.2 mm MAE, exported to OpenVINO IR. Opt-in; the demo path uses oracle positions by default (ADR-046)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One entry point: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run_demo.py → </a:t>
            </a:r>
            <a:r>
              <a:rPr sz="1700" b="1" i="0">
                <a:solidFill>
                  <a:srgbClr val="1C2433"/>
                </a:solidFill>
                <a:latin typeface="Calibri"/>
              </a:rPr>
              <a:t>4/4 PASS</a:t>
            </a:r>
            <a:r>
              <a:rPr sz="1700" b="0" i="0">
                <a:solidFill>
                  <a:srgbClr val="1C2433"/>
                </a:solidFill>
                <a:latin typeface="Calibri"/>
              </a:rPr>
              <a:t> on the Intel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Grasping is an explicit MuJoCo weld-constraint abstraction, not friction contact (ADR-029, disclosed per ADR-015)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Working demo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56170"/>
                </a:solidFill>
                <a:latin typeface="Calibri"/>
              </a:rPr>
              <a:t>handoff(A→B, fork), verified by direct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6-handoff-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633984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920240"/>
            <a:ext cx="411480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weld.is_holding('B') == 'fork'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weld.is_holding('A') is None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from_arm_clear = True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Final lateral separation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0.1946 m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frames_used =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6610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Full 40 s continuous take: docs/videos/full-sequence-demo.mp4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docs/images/m06-handoff-complete.png · handoff 20/20 across seeds is degenerate — single-point envelope; it measures determinism, not robustness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OpenVINO on Core Ultra, and the evidence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C2433"/>
                </a:solidFill>
                <a:latin typeface="Calibri"/>
              </a:rPr>
              <a:t>PoseNet inference, batch 1 (ADR-045)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57400"/>
          <a:ext cx="51206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  <a:gridCol w="1097280"/>
                <a:gridCol w="128016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iGPU (Arc B390)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FP16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0.683 ms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C2433"/>
                          </a:solidFill>
                          <a:latin typeface="Calibri"/>
                        </a:rPr>
                        <a:t>1465 Hz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NPU (NPU5010)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FP16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1.099 ms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910 Hz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FP16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6.492 ms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2433"/>
                          </a:solidFill>
                          <a:latin typeface="Calibri"/>
                        </a:rPr>
                        <a:t>154 Hz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429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56170"/>
                </a:solidFill>
                <a:latin typeface="Calibri"/>
              </a:rPr>
              <a:t>Batch 16: GPU **5800 Hz**, NPU 1478 Hz, CPU 231 Hz — latency grows slower than batch on every device, so throughput keeps climbing.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C2433"/>
                </a:solidFill>
                <a:latin typeface="Calibri"/>
              </a:rPr>
              <a:t>Rubric evidence map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057400"/>
          <a:ext cx="52120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>
                    <a:solidFill>
                      <a:srgbClr val="1C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End-to-end + bimanual (30)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4 skills; handoff(A→B) 4/4 PASS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VLA / multi-modal (20)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Text + voice grounding; perception demoed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OpenVINO on Core Ultra (20)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3 devices × 3 precisions + batch scaling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Robustness (15)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20-seed eval, per-skill rates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Reproducibility (10)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One entry point, pinned envs, 59 ADRs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Innovation (5)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C2433"/>
                          </a:solidFill>
                          <a:latin typeface="Calibri"/>
                        </a:rPr>
                        <a:t>Three measured negative results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docs/hardware/m10-phase4-benchmark.md · docs/slides-rubric-map.md · pick(A, water_bottle) is 45% (9/20, ADR-053's 20-seed extension)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Honest engineering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556170"/>
                </a:solidFill>
                <a:latin typeface="Calibri"/>
              </a:rPr>
              <a:t>Three findings we measured, then acted against our own interest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1. INT8 quantization — declined (ADR-050).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 36–37 mm deviation against the model's own 2.6–3.2 mm MAE. Faster, and not shippable. We kept FP16.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2. Position-only geometry redesign — rejected (ADR-062).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 Two of three kinematic walls did dissolve at 0.40 m separation; net result 1 of 8 skills passing versus master's 4 of 9. Branch preserved as the evidence.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3. Motion-stack rewrite — partly worked (ADR-074).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 Skills had only ever been scored on whether the target moved. Re-scored on five scene-integrity criteria,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master passes 0 of 3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: place displaces the mug 63.2 mm; handoff spends 3179 of 6610 steps (48%) with the arms in contact, at 6.937 rad/s peak. The rebuilt stack passes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2 of 3 individual skills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, and a </a:t>
            </a:r>
            <a:r>
              <a:rPr sz="1400" b="1" i="0">
                <a:solidFill>
                  <a:srgbClr val="1C2433"/>
                </a:solidFill>
                <a:latin typeface="Calibri"/>
              </a:rPr>
              <a:t>six-stage bimanual relay passes all five scene-integrity criteria</a:t>
            </a:r>
            <a:r>
              <a:rPr sz="1400" b="0" i="0">
                <a:solidFill>
                  <a:srgbClr val="1C2433"/>
                </a:solidFill>
                <a:latin typeface="Calibri"/>
              </a:rPr>
              <a:t> at every stage (worst peak 2.362 rad/s against a 2.6 gate).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7286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The relay moves the fork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via the table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. v2 has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no working direct hand-to-hand handoff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 — diagnosed, unsolved, named fix in ADR-073.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v2's pick pass required fixing the grasp geometry first (the ADR-025 pinch point is not the grasp centre in top-down poses; a 4 mm clearance window). An earlier passing claim was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retracted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v2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cannot reach the water bottle at all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 — a regression against master.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Spline vs direct commands: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11.9× lower peak velocity, 21× lower peak acceleration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, identical 0.00014 rad final error. Idle-arm drift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0.000774 rad settled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, bounded transient at step 12 disclosed.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C2433"/>
                </a:solidFill>
                <a:latin typeface="Calibri"/>
              </a:rPr>
              <a:t>Two shortcuts refused:</a:t>
            </a:r>
            <a:r>
              <a:rPr sz="1100" b="0" i="0">
                <a:solidFill>
                  <a:srgbClr val="1C2433"/>
                </a:solidFill>
                <a:latin typeface="Calibri"/>
              </a:rPr>
              <a:t> widening the grasp gate 0.05→0.12 m and the weld gate to 0.115 m each turned a failure into a passing number — both measured and rejected, the second after a per-step check proved the receiving pads never touch the fork.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docs/hardware/v2-verdict.md · ADR-074 · docs/videos/v2-relay-demo.mp4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C2433"/>
                </a:solidFill>
                <a:latin typeface="Calibri"/>
              </a:rPr>
              <a:t>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1091153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7286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2433"/>
                </a:solidFill>
                <a:latin typeface="Calibri"/>
              </a:rPr>
              <a:t>One command: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 ./run_demo.sh → run_demo.py → </a:t>
            </a:r>
            <a:r>
              <a:rPr sz="1500" b="1" i="0">
                <a:solidFill>
                  <a:srgbClr val="1C2433"/>
                </a:solidFill>
                <a:latin typeface="Calibri"/>
              </a:rPr>
              <a:t>4/4 PASS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 on the Intel target, from a clean anonymous clone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2433"/>
                </a:solidFill>
                <a:latin typeface="Calibri"/>
              </a:rPr>
              <a:t>Pinned environments: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 scripts/requirements-dev.txt / requirements-bmptl.txt, checked by scripts/verify_env.py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2433"/>
                </a:solidFill>
                <a:latin typeface="Calibri"/>
              </a:rPr>
              <a:t>59 ADR entries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 in ARCHITECTURE.md (ADR-001–058; 43 in DECISIONS.md), plus ADR-070–074 for the v2 rebuild on the redesign-v2 branch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2433"/>
                </a:solidFill>
                <a:latin typeface="Calibri"/>
              </a:rPr>
              <a:t>Public repo: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 github.com/Sumit-Dwivedi/intel-bimanual-vla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71C5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C2433"/>
                </a:solidFill>
                <a:latin typeface="Calibri"/>
              </a:rPr>
              <a:t>Verified by cloning anonymously onto a clean host and following the README with no prior knowledge — which is how we found the repo was still private, and three defects in our own environment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920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C2433"/>
                </a:solidFill>
                <a:latin typeface="Calibri"/>
              </a:rPr>
              <a:t>What does not work, stated plainly: </a:t>
            </a:r>
            <a:r>
              <a:rPr sz="1300" b="0" i="0">
                <a:solidFill>
                  <a:srgbClr val="1C2433"/>
                </a:solidFill>
                <a:latin typeface="Calibri"/>
              </a:rPr>
              <a:t>pick(A, mug), open_drawer, place(A, water_bottle, table), handoff(B→A, fork). pour is out of scope (ADR-023), so the challenge brief's literal example command does not run end to end. pytest tests/ is 66 passed / 4 failed.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6170"/>
                </a:solidFill>
                <a:latin typeface="Calibri"/>
              </a:rPr>
              <a:t>Rendered from docs/slides.md by scripts/render_slides.py — the markdown is canonical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